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40" r:id="rId6"/>
    <p:sldId id="337" r:id="rId7"/>
    <p:sldId id="264" r:id="rId8"/>
    <p:sldId id="346" r:id="rId9"/>
    <p:sldId id="345" r:id="rId10"/>
    <p:sldId id="344" r:id="rId11"/>
    <p:sldId id="341" r:id="rId12"/>
    <p:sldId id="342" r:id="rId13"/>
    <p:sldId id="34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EEA5C-334D-2B49-9F5F-7681921DF788}" v="19" dt="2026-01-20T13:39:21.346"/>
    <p1510:client id="{E66771F0-8FDA-C532-A539-1FC568A67E2D}" v="67" dt="2026-01-20T12:50:55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5900"/>
  </p:normalViewPr>
  <p:slideViewPr>
    <p:cSldViewPr snapToGrid="0">
      <p:cViewPr>
        <p:scale>
          <a:sx n="69" d="100"/>
          <a:sy n="69" d="100"/>
        </p:scale>
        <p:origin x="7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1ED0-8724-4321-9903-1B6C4397769A}" type="datetimeFigureOut">
              <a:rPr lang="en-US" smtClean="0"/>
              <a:t>1/20/26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71AD-4225-439B-B0AF-FF523CEDE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8D-F34E-4BE4-9B6B-598D2E739C81}" type="datetimeFigureOut">
              <a:rPr lang="en-US" smtClean="0"/>
              <a:t>1/20/26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3C36-AE66-42A1-BA56-51FF7F8C86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0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1" y="1621998"/>
            <a:ext cx="5068567" cy="1301390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9" name="Subtitle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3109652"/>
            <a:ext cx="5068567" cy="2395623"/>
          </a:xfr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Topic one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Topic two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Topic three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Topic four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6067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6067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2535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2535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9002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9002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20XX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3" y="2735221"/>
            <a:ext cx="477507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Subtitle</a:t>
            </a:r>
          </a:p>
        </p:txBody>
      </p:sp>
      <p:sp>
        <p:nvSpPr>
          <p:cNvPr id="10" name="Date Placeholder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dirty="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166" y="610485"/>
            <a:ext cx="5103661" cy="13716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2625" y="2108844"/>
            <a:ext cx="5103812" cy="37909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58" y="2100942"/>
            <a:ext cx="5716339" cy="2290607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Date Placeholder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>
              <a:defRPr/>
            </a:pPr>
            <a:r>
              <a:rPr lang="en-US" sz="1300"/>
              <a:t>20XX</a:t>
            </a:r>
            <a:endParaRPr lang="en-US" sz="13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157" y="4698173"/>
            <a:ext cx="5716339" cy="658674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7" name="Picture Placeholder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0" y="2197853"/>
            <a:ext cx="463341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5" name="Date Placeholder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/>
              <a:t>20XX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57313" y="3308350"/>
            <a:ext cx="4633912" cy="2141632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27" name="Footer Placeholder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3053588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9206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9206" y="2792471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564" y="2073651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8564" y="2791788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1" r:id="rId2"/>
    <p:sldLayoutId id="2147483660" r:id="rId3"/>
    <p:sldLayoutId id="2147483676" r:id="rId4"/>
    <p:sldLayoutId id="2147483673" r:id="rId5"/>
    <p:sldLayoutId id="2147483677" r:id="rId6"/>
    <p:sldLayoutId id="2147483672" r:id="rId7"/>
    <p:sldLayoutId id="2147483675" r:id="rId8"/>
    <p:sldLayoutId id="2147483678" r:id="rId9"/>
    <p:sldLayoutId id="2147483662" r:id="rId10"/>
    <p:sldLayoutId id="2147483663" r:id="rId11"/>
    <p:sldLayoutId id="2147483670" r:id="rId12"/>
    <p:sldLayoutId id="2147483664" r:id="rId13"/>
    <p:sldLayoutId id="2147483665" r:id="rId14"/>
    <p:sldLayoutId id="2147483666" r:id="rId15"/>
    <p:sldLayoutId id="214748366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6000">
                <a:solidFill>
                  <a:schemeClr val="tx1"/>
                </a:solidFill>
              </a:rPr>
              <a:t>EEG</a:t>
            </a:r>
            <a:br>
              <a:rPr lang="en-US" sz="6000"/>
            </a:br>
            <a:r>
              <a:rPr lang="en-US" sz="6000">
                <a:solidFill>
                  <a:schemeClr val="tx1"/>
                </a:solidFill>
              </a:rPr>
              <a:t>Signal</a:t>
            </a:r>
            <a:br>
              <a:rPr lang="en-US" sz="6000"/>
            </a:br>
            <a:r>
              <a:rPr lang="en-US" sz="6000">
                <a:solidFill>
                  <a:schemeClr val="tx1"/>
                </a:solidFill>
              </a:rPr>
              <a:t>Analysis</a:t>
            </a:r>
            <a:br>
              <a:rPr lang="en-US" sz="6000"/>
            </a:br>
            <a:r>
              <a:rPr lang="en-US" sz="6000">
                <a:solidFill>
                  <a:schemeClr val="tx1"/>
                </a:solidFill>
              </a:rPr>
              <a:t>Project</a:t>
            </a:r>
            <a:br>
              <a:rPr lang="en-US" sz="6000"/>
            </a:br>
            <a:r>
              <a:rPr lang="en-US" sz="6000">
                <a:solidFill>
                  <a:schemeClr val="tx1"/>
                </a:solidFill>
              </a:rPr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3440" y="1272800"/>
            <a:ext cx="2481307" cy="4312402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dirty="0"/>
              <a:t>Group A25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308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535F6178-8B8C-626B-BF2E-A6D0CD5B95A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2"/>
          <a:srcRect l="-18" t="1" r="261" b="1"/>
          <a:stretch/>
        </p:blipFill>
        <p:spPr>
          <a:xfrm>
            <a:off x="477012" y="896112"/>
            <a:ext cx="11237976" cy="54818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ACF3B3-6DB7-17EC-9587-393D98839637}"/>
              </a:ext>
            </a:extLst>
          </p:cNvPr>
          <p:cNvSpPr txBox="1"/>
          <p:nvPr/>
        </p:nvSpPr>
        <p:spPr>
          <a:xfrm>
            <a:off x="5395295" y="473702"/>
            <a:ext cx="1514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Status Report</a:t>
            </a:r>
          </a:p>
        </p:txBody>
      </p:sp>
    </p:spTree>
    <p:extLst>
      <p:ext uri="{BB962C8B-B14F-4D97-AF65-F5344CB8AC3E}">
        <p14:creationId xmlns:p14="http://schemas.microsoft.com/office/powerpoint/2010/main" val="278855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E0D13DB-D099-4541-888D-DE0186F1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19" y="253548"/>
            <a:ext cx="5851795" cy="6384816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" name="Picture Placeholder 5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D519229C-5C20-A906-7942-C4CCA1957D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13119" r="-1" b="-158"/>
          <a:stretch/>
        </p:blipFill>
        <p:spPr>
          <a:xfrm>
            <a:off x="137160" y="253548"/>
            <a:ext cx="6011360" cy="6462212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C802F-C74D-41A2-8127-19D4F8EE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Pipeline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E4A54726-4483-4264-B2EC-04C460B0BD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46137" y="2194561"/>
            <a:ext cx="4602152" cy="390216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Research-driven pipeline</a:t>
            </a:r>
            <a:r>
              <a:rPr lang="en-US" dirty="0">
                <a:solidFill>
                  <a:schemeClr val="tx1"/>
                </a:solidFill>
              </a:rPr>
              <a:t> designed by integrating established EEG preprocessing, feature extraction, and deep learning methods from recent Parkinson’s disease studies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Enables robust and </a:t>
            </a:r>
            <a:r>
              <a:rPr lang="en-US" b="1" dirty="0" err="1">
                <a:solidFill>
                  <a:schemeClr val="tx1"/>
                </a:solidFill>
              </a:rPr>
              <a:t>generalisable</a:t>
            </a:r>
            <a:r>
              <a:rPr lang="en-US" b="1" dirty="0">
                <a:solidFill>
                  <a:schemeClr val="tx1"/>
                </a:solidFill>
              </a:rPr>
              <a:t> classification</a:t>
            </a:r>
            <a:r>
              <a:rPr lang="en-US" dirty="0">
                <a:solidFill>
                  <a:schemeClr val="tx1"/>
                </a:solidFill>
              </a:rPr>
              <a:t> by isolating disease-related neural patterns while reducing noise, artefacts, and subject-specific bias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Supports clinically meaningful outcomes</a:t>
            </a:r>
            <a:r>
              <a:rPr lang="en-US" dirty="0">
                <a:solidFill>
                  <a:schemeClr val="tx1"/>
                </a:solidFill>
              </a:rPr>
              <a:t>, providing a scalable foundation for reliable EEG-based Parkinson’s diagnostic support</a:t>
            </a:r>
          </a:p>
          <a:p>
            <a:pPr marL="102870" indent="-285750"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59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6389-2374-4677-B8BB-59410CC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290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Sprint Plan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6A0EF3C-1746-44D9-BCA5-45FF05BC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44004F-DBB4-B985-8AA4-95BAFF90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38" y="1833465"/>
            <a:ext cx="11051323" cy="37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0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6A0EF3C-1746-44D9-BCA5-45FF05BC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Content Placeholder 13" descr="A close-up of a document&#10;&#10;Description automatically generated">
            <a:extLst>
              <a:ext uri="{FF2B5EF4-FFF2-40B4-BE49-F238E27FC236}">
                <a16:creationId xmlns:a16="http://schemas.microsoft.com/office/drawing/2014/main" id="{D2FF5722-000E-6673-E9D9-A30928CE4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717" y="1421653"/>
            <a:ext cx="10886566" cy="4014694"/>
          </a:xfrm>
        </p:spPr>
      </p:pic>
    </p:spTree>
    <p:extLst>
      <p:ext uri="{BB962C8B-B14F-4D97-AF65-F5344CB8AC3E}">
        <p14:creationId xmlns:p14="http://schemas.microsoft.com/office/powerpoint/2010/main" val="277507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1C5C3-669D-5DE4-99FB-BBB6235A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 dirty="0"/>
          </a:p>
        </p:txBody>
      </p:sp>
      <p:pic>
        <p:nvPicPr>
          <p:cNvPr id="10" name="Content Placeholder 9" descr="A screenshot of a document&#10;&#10;Description automatically generated">
            <a:extLst>
              <a:ext uri="{FF2B5EF4-FFF2-40B4-BE49-F238E27FC236}">
                <a16:creationId xmlns:a16="http://schemas.microsoft.com/office/drawing/2014/main" id="{BE6B8C80-965F-5E9D-8EB5-A527C61C3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42" y="956535"/>
            <a:ext cx="10864916" cy="4944930"/>
          </a:xfrm>
        </p:spPr>
      </p:pic>
    </p:spTree>
    <p:extLst>
      <p:ext uri="{BB962C8B-B14F-4D97-AF65-F5344CB8AC3E}">
        <p14:creationId xmlns:p14="http://schemas.microsoft.com/office/powerpoint/2010/main" val="17862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4830-C842-C4FD-66AD-EAA2936D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290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PRODUCT BACKLOG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FDBDDD-E8CC-801D-B043-1DDB70BAC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15"/>
          <a:stretch/>
        </p:blipFill>
        <p:spPr>
          <a:xfrm>
            <a:off x="1469502" y="1371600"/>
            <a:ext cx="9236598" cy="484380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B3C70-0024-AC7A-112C-2B8413F4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1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E9EDDFA-8F05-462B-8D3E-5B9C4FBC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ocument with text on it&#10;&#10;Description automatically generated">
            <a:extLst>
              <a:ext uri="{FF2B5EF4-FFF2-40B4-BE49-F238E27FC236}">
                <a16:creationId xmlns:a16="http://schemas.microsoft.com/office/drawing/2014/main" id="{F0A78CF4-E7D6-6420-FAFA-FEB5A0C3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54" y="812202"/>
            <a:ext cx="5367165" cy="52464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43F9A23-3237-4ED6-A1E9-C0E6530E0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3CD46D-4335-4BA4-842A-BF835A99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74EF1-2B1B-9FB0-BB65-F69708B1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Sprint Retrospective</a:t>
            </a:r>
          </a:p>
        </p:txBody>
      </p:sp>
      <p:pic>
        <p:nvPicPr>
          <p:cNvPr id="9" name="Content Placeholder 8" descr="A list of tasks with text&#10;&#10;Description automatically generated with medium confidence">
            <a:extLst>
              <a:ext uri="{FF2B5EF4-FFF2-40B4-BE49-F238E27FC236}">
                <a16:creationId xmlns:a16="http://schemas.microsoft.com/office/drawing/2014/main" id="{628E8C35-E0F5-DF4A-A8C7-6B32E83AB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42211" y="2152457"/>
            <a:ext cx="4471988" cy="308801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00F2D-5694-B10C-D24D-DC1A851E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35" y="6135975"/>
            <a:ext cx="1463040" cy="25603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92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D13DB-D099-4541-888D-DE0186F1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19" y="253548"/>
            <a:ext cx="5851795" cy="6384816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document&#10;&#10;Description automatically generated">
            <a:extLst>
              <a:ext uri="{FF2B5EF4-FFF2-40B4-BE49-F238E27FC236}">
                <a16:creationId xmlns:a16="http://schemas.microsoft.com/office/drawing/2014/main" id="{F8A37E46-DE99-BE4E-8308-52E579BD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6" r="9408" b="-2"/>
          <a:stretch>
            <a:fillRect/>
          </a:stretch>
        </p:blipFill>
        <p:spPr>
          <a:xfrm>
            <a:off x="424928" y="419292"/>
            <a:ext cx="5522976" cy="605332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 application&#10;&#10;Description automatically generated">
            <a:extLst>
              <a:ext uri="{FF2B5EF4-FFF2-40B4-BE49-F238E27FC236}">
                <a16:creationId xmlns:a16="http://schemas.microsoft.com/office/drawing/2014/main" id="{D1C6FD07-6EB9-57F3-BB63-24A589356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8785" y="1463227"/>
            <a:ext cx="4574040" cy="39116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63225-2A97-7151-B025-A2247911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847" y="6177235"/>
            <a:ext cx="480007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0DAE2-23C2-B492-2299-974D80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5513" y="6126435"/>
            <a:ext cx="548640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1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2286-8C29-0DD5-26D3-F3B71D62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34" y="1105223"/>
            <a:ext cx="2312480" cy="471286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2800" dirty="0"/>
              <a:t>R</a:t>
            </a:r>
            <a:br>
              <a:rPr lang="en-US" sz="2800" dirty="0"/>
            </a:br>
            <a:r>
              <a:rPr lang="en-US" sz="2800" dirty="0"/>
              <a:t>O</a:t>
            </a:r>
            <a:br>
              <a:rPr lang="en-US" sz="2800" dirty="0"/>
            </a:br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/>
              <a:t>M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/>
              <a:t>N</a:t>
            </a:r>
            <a:br>
              <a:rPr lang="en-US" sz="2800" dirty="0"/>
            </a:br>
            <a:r>
              <a:rPr lang="en-US" sz="2800" dirty="0"/>
              <a:t>A</a:t>
            </a:r>
            <a:br>
              <a:rPr lang="en-US" sz="2800" dirty="0"/>
            </a:br>
            <a:r>
              <a:rPr lang="en-US" sz="2800" dirty="0"/>
              <a:t>L</a:t>
            </a:r>
            <a:br>
              <a:rPr lang="en-US" sz="2800" dirty="0"/>
            </a:br>
            <a:r>
              <a:rPr lang="en-US" sz="2800" dirty="0"/>
              <a:t>Y</a:t>
            </a:r>
            <a:br>
              <a:rPr lang="en-US" sz="2800" dirty="0"/>
            </a:br>
            <a:r>
              <a:rPr lang="en-US" sz="2800" dirty="0"/>
              <a:t>S</a:t>
            </a:r>
            <a:br>
              <a:rPr lang="en-US" sz="2800" dirty="0"/>
            </a:br>
            <a:r>
              <a:rPr lang="en-US" sz="2800" dirty="0"/>
              <a:t>I</a:t>
            </a:r>
            <a:br>
              <a:rPr lang="en-US" sz="2800" dirty="0"/>
            </a:br>
            <a:r>
              <a:rPr lang="en-US" sz="2800" dirty="0"/>
              <a:t>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 descr="A close-up of a table&#10;&#10;Description automatically generated">
            <a:extLst>
              <a:ext uri="{FF2B5EF4-FFF2-40B4-BE49-F238E27FC236}">
                <a16:creationId xmlns:a16="http://schemas.microsoft.com/office/drawing/2014/main" id="{589AD2E2-0C26-C1A9-3D3E-36B912C80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30" y="1453243"/>
            <a:ext cx="8155997" cy="40168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434D6-8D02-19B3-DEF3-3D198CF7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9991" y="6035040"/>
            <a:ext cx="1463040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62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4D4956A-58D5-480A-BCDA-53092DBAA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CF2BD5-DE13-4F89-A44B-1244AAFA74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7085EF-B99E-49B5-8168-B93B76F18C94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230e9df3-be65-4c73-a93b-d1236ebd677e"/>
    <ds:schemaRef ds:uri="http://schemas.microsoft.com/sharepoint/v3"/>
    <ds:schemaRef ds:uri="http://purl.org/dc/dcmitype/"/>
    <ds:schemaRef ds:uri="http://purl.org/dc/elements/1.1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_SavonVTI</Template>
  <TotalTime>48</TotalTime>
  <Words>110</Words>
  <Application>Microsoft Macintosh PowerPoint</Application>
  <PresentationFormat>Widescreen</PresentationFormat>
  <Paragraphs>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Garamond</vt:lpstr>
      <vt:lpstr>Wingdings</vt:lpstr>
      <vt:lpstr>SavonVTI</vt:lpstr>
      <vt:lpstr>EEG Signal Analysis Project Update</vt:lpstr>
      <vt:lpstr>PowerPoint Presentation</vt:lpstr>
      <vt:lpstr>Pipeline</vt:lpstr>
      <vt:lpstr>Sprint Plan</vt:lpstr>
      <vt:lpstr>PowerPoint Presentation</vt:lpstr>
      <vt:lpstr>PowerPoint Presentation</vt:lpstr>
      <vt:lpstr>PRODUCT BACKLOG</vt:lpstr>
      <vt:lpstr>Sprint Retrospective</vt:lpstr>
      <vt:lpstr>PowerPoint Presentation</vt:lpstr>
      <vt:lpstr>R O A M  A N A L Y S I 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Diba Dabiransari</cp:lastModifiedBy>
  <cp:revision>19</cp:revision>
  <dcterms:created xsi:type="dcterms:W3CDTF">2026-01-20T12:47:26Z</dcterms:created>
  <dcterms:modified xsi:type="dcterms:W3CDTF">2026-01-20T13:40:00Z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